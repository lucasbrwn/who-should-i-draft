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433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8778240" y="0"/>
            <a:ext cx="0" cy="6858000"/>
          </a:xfrm>
          <a:prstGeom prst="straightConnector1">
            <a:avLst/>
          </a:prstGeom>
          <a:noFill/>
          <a:ln cap="flat" cmpd="sng" w="12700">
            <a:solidFill>
              <a:srgbClr val="10281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" name="Google Shape;17;p3"/>
          <p:cNvCxnSpPr/>
          <p:nvPr/>
        </p:nvCxnSpPr>
        <p:spPr>
          <a:xfrm>
            <a:off x="9326880" y="0"/>
            <a:ext cx="0" cy="6858000"/>
          </a:xfrm>
          <a:prstGeom prst="straightConnector1">
            <a:avLst/>
          </a:prstGeom>
          <a:noFill/>
          <a:ln cap="flat" cmpd="sng" w="12700">
            <a:solidFill>
              <a:srgbClr val="10281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9875520" y="0"/>
            <a:ext cx="0" cy="6858000"/>
          </a:xfrm>
          <a:prstGeom prst="straightConnector1">
            <a:avLst/>
          </a:prstGeom>
          <a:noFill/>
          <a:ln cap="flat" cmpd="sng" w="12700">
            <a:solidFill>
              <a:srgbClr val="10281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" name="Google Shape;19;p3"/>
          <p:cNvCxnSpPr/>
          <p:nvPr/>
        </p:nvCxnSpPr>
        <p:spPr>
          <a:xfrm>
            <a:off x="10424160" y="0"/>
            <a:ext cx="0" cy="6858000"/>
          </a:xfrm>
          <a:prstGeom prst="straightConnector1">
            <a:avLst/>
          </a:prstGeom>
          <a:noFill/>
          <a:ln cap="flat" cmpd="sng" w="12700">
            <a:solidFill>
              <a:srgbClr val="10281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" name="Google Shape;20;p3"/>
          <p:cNvCxnSpPr/>
          <p:nvPr/>
        </p:nvCxnSpPr>
        <p:spPr>
          <a:xfrm>
            <a:off x="10972800" y="0"/>
            <a:ext cx="0" cy="6858000"/>
          </a:xfrm>
          <a:prstGeom prst="straightConnector1">
            <a:avLst/>
          </a:prstGeom>
          <a:noFill/>
          <a:ln cap="flat" cmpd="sng" w="12700">
            <a:solidFill>
              <a:srgbClr val="10281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" name="Google Shape;21;p3"/>
          <p:cNvCxnSpPr/>
          <p:nvPr/>
        </p:nvCxnSpPr>
        <p:spPr>
          <a:xfrm>
            <a:off x="11521440" y="0"/>
            <a:ext cx="0" cy="6858000"/>
          </a:xfrm>
          <a:prstGeom prst="straightConnector1">
            <a:avLst/>
          </a:prstGeom>
          <a:noFill/>
          <a:ln cap="flat" cmpd="sng" w="12700">
            <a:solidFill>
              <a:srgbClr val="10281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3"/>
          <p:cNvSpPr txBox="1"/>
          <p:nvPr/>
        </p:nvSpPr>
        <p:spPr>
          <a:xfrm>
            <a:off x="640080" y="2148840"/>
            <a:ext cx="96012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WHO SHOULD I DRAFT?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 txBox="1"/>
          <p:nvPr/>
        </p:nvSpPr>
        <p:spPr>
          <a:xfrm>
            <a:off x="640080" y="306324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2000"/>
              <a:buFont typeface="Calibri"/>
              <a:buNone/>
            </a:pPr>
            <a:r>
              <a:rPr b="0" i="1" lang="en-US" sz="2000" u="none" cap="none" strike="noStrike">
                <a:solidFill>
                  <a:srgbClr val="D4AF37"/>
                </a:solidFill>
                <a:latin typeface="Calibri"/>
                <a:ea typeface="Calibri"/>
                <a:cs typeface="Calibri"/>
                <a:sym typeface="Calibri"/>
              </a:rPr>
              <a:t>An AI-Powered Fantasy Football Draft Assistant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640080" y="3794760"/>
            <a:ext cx="822960" cy="54864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 txBox="1"/>
          <p:nvPr/>
        </p:nvSpPr>
        <p:spPr>
          <a:xfrm>
            <a:off x="640080" y="40233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F2F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2F2F0"/>
                </a:solidFill>
                <a:latin typeface="Calibri"/>
                <a:ea typeface="Calibri"/>
                <a:cs typeface="Calibri"/>
                <a:sym typeface="Calibri"/>
              </a:rPr>
              <a:t>Software Project Proposal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 txBox="1"/>
          <p:nvPr/>
        </p:nvSpPr>
        <p:spPr>
          <a:xfrm>
            <a:off x="640080" y="603504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Lucas Brown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rPr>
              <a:t>The Idea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 txBox="1"/>
          <p:nvPr/>
        </p:nvSpPr>
        <p:spPr>
          <a:xfrm>
            <a:off x="548640" y="1234440"/>
            <a:ext cx="603504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Fantasy football decisions are usually driven by gut feeling and hype. This app replaces guesswork with data — using real athlete statistics, matchup context, and AI-driven pattern recognition to predict which players are most likely to perform well.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 txBox="1"/>
          <p:nvPr/>
        </p:nvSpPr>
        <p:spPr>
          <a:xfrm>
            <a:off x="548640" y="3566160"/>
            <a:ext cx="603504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Rather than static rankings, the model continuously updates its projections as new data comes in — treating each recommendation as a live, probability-based decision instead of a fixed outcome.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7040880" y="1234440"/>
            <a:ext cx="4480560" cy="1371600"/>
          </a:xfrm>
          <a:prstGeom prst="roundRect">
            <a:avLst>
              <a:gd fmla="val 6667" name="adj"/>
            </a:avLst>
          </a:prstGeom>
          <a:solidFill>
            <a:srgbClr val="F2F2F0"/>
          </a:solidFill>
          <a:ln>
            <a:noFill/>
          </a:ln>
          <a:effectLst>
            <a:outerShdw blurRad="76200" rotWithShape="0" algn="bl" dir="5400000" dist="25400">
              <a:srgbClr val="000000">
                <a:alpha val="1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7315200" y="1554480"/>
            <a:ext cx="731520" cy="731520"/>
          </a:xfrm>
          <a:prstGeom prst="ellipse">
            <a:avLst/>
          </a:prstGeom>
          <a:solidFill>
            <a:srgbClr val="1B4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 txBox="1"/>
          <p:nvPr/>
        </p:nvSpPr>
        <p:spPr>
          <a:xfrm>
            <a:off x="7315200" y="155448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100"/>
              <a:buFont typeface="Cambria"/>
              <a:buNone/>
            </a:pPr>
            <a:r>
              <a:rPr b="1" i="0" lang="en-US" sz="1100" u="none" cap="none" strike="noStrike">
                <a:solidFill>
                  <a:srgbClr val="D4AF37"/>
                </a:solidFill>
                <a:latin typeface="Cambria"/>
                <a:ea typeface="Cambria"/>
                <a:cs typeface="Cambria"/>
                <a:sym typeface="Cambria"/>
              </a:rPr>
              <a:t>DATA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 txBox="1"/>
          <p:nvPr/>
        </p:nvSpPr>
        <p:spPr>
          <a:xfrm>
            <a:off x="8229600" y="1490472"/>
            <a:ext cx="30175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81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0281D"/>
                </a:solidFill>
                <a:latin typeface="Calibri"/>
                <a:ea typeface="Calibri"/>
                <a:cs typeface="Calibri"/>
                <a:sym typeface="Calibri"/>
              </a:rPr>
              <a:t>Real athlete stats &amp; matchups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7040880" y="2834640"/>
            <a:ext cx="4480560" cy="1371600"/>
          </a:xfrm>
          <a:prstGeom prst="roundRect">
            <a:avLst>
              <a:gd fmla="val 6667" name="adj"/>
            </a:avLst>
          </a:prstGeom>
          <a:solidFill>
            <a:srgbClr val="F2F2F0"/>
          </a:solidFill>
          <a:ln>
            <a:noFill/>
          </a:ln>
          <a:effectLst>
            <a:outerShdw blurRad="76200" rotWithShape="0" algn="bl" dir="5400000" dist="25400">
              <a:srgbClr val="000000">
                <a:alpha val="1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7315200" y="3154680"/>
            <a:ext cx="731520" cy="731520"/>
          </a:xfrm>
          <a:prstGeom prst="ellipse">
            <a:avLst/>
          </a:prstGeom>
          <a:solidFill>
            <a:srgbClr val="1B4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 txBox="1"/>
          <p:nvPr/>
        </p:nvSpPr>
        <p:spPr>
          <a:xfrm>
            <a:off x="7315200" y="315468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100"/>
              <a:buFont typeface="Cambria"/>
              <a:buNone/>
            </a:pPr>
            <a:r>
              <a:rPr b="1" i="0" lang="en-US" sz="1100" u="none" cap="none" strike="noStrike">
                <a:solidFill>
                  <a:srgbClr val="D4AF37"/>
                </a:solidFill>
                <a:latin typeface="Cambria"/>
                <a:ea typeface="Cambria"/>
                <a:cs typeface="Cambria"/>
                <a:sym typeface="Cambria"/>
              </a:rPr>
              <a:t>AI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 txBox="1"/>
          <p:nvPr/>
        </p:nvSpPr>
        <p:spPr>
          <a:xfrm>
            <a:off x="8229600" y="3090672"/>
            <a:ext cx="30175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81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0281D"/>
                </a:solidFill>
                <a:latin typeface="Calibri"/>
                <a:ea typeface="Calibri"/>
                <a:cs typeface="Calibri"/>
                <a:sym typeface="Calibri"/>
              </a:rPr>
              <a:t>Pattern recognition, not luck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7040880" y="4434840"/>
            <a:ext cx="4480560" cy="1371600"/>
          </a:xfrm>
          <a:prstGeom prst="roundRect">
            <a:avLst>
              <a:gd fmla="val 6667" name="adj"/>
            </a:avLst>
          </a:prstGeom>
          <a:solidFill>
            <a:srgbClr val="F2F2F0"/>
          </a:solidFill>
          <a:ln>
            <a:noFill/>
          </a:ln>
          <a:effectLst>
            <a:outerShdw blurRad="76200" rotWithShape="0" algn="bl" dir="5400000" dist="25400">
              <a:srgbClr val="000000">
                <a:alpha val="1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7315200" y="4754880"/>
            <a:ext cx="731520" cy="731520"/>
          </a:xfrm>
          <a:prstGeom prst="ellipse">
            <a:avLst/>
          </a:prstGeom>
          <a:solidFill>
            <a:srgbClr val="1B4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 txBox="1"/>
          <p:nvPr/>
        </p:nvSpPr>
        <p:spPr>
          <a:xfrm>
            <a:off x="7315200" y="475488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100"/>
              <a:buFont typeface="Cambria"/>
              <a:buNone/>
            </a:pPr>
            <a:r>
              <a:rPr b="1" i="0" lang="en-US" sz="1100" u="none" cap="none" strike="noStrike">
                <a:solidFill>
                  <a:srgbClr val="D4AF37"/>
                </a:solidFill>
                <a:latin typeface="Cambria"/>
                <a:ea typeface="Cambria"/>
                <a:cs typeface="Cambria"/>
                <a:sym typeface="Cambria"/>
              </a:rPr>
              <a:t>LIVE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 txBox="1"/>
          <p:nvPr/>
        </p:nvSpPr>
        <p:spPr>
          <a:xfrm>
            <a:off x="8229600" y="4690872"/>
            <a:ext cx="30175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81D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0281D"/>
                </a:solidFill>
                <a:latin typeface="Calibri"/>
                <a:ea typeface="Calibri"/>
                <a:cs typeface="Calibri"/>
                <a:sym typeface="Calibri"/>
              </a:rPr>
              <a:t>Real-time, evolving predictions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rPr>
              <a:t>Key Features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 txBox="1"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What the app does under the hood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548640" y="1600200"/>
            <a:ext cx="5349240" cy="2148840"/>
          </a:xfrm>
          <a:prstGeom prst="roundRect">
            <a:avLst>
              <a:gd fmla="val 3404" name="adj"/>
            </a:avLst>
          </a:prstGeom>
          <a:solidFill>
            <a:srgbClr val="F2F2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5"/>
          <p:cNvSpPr/>
          <p:nvPr/>
        </p:nvSpPr>
        <p:spPr>
          <a:xfrm>
            <a:off x="822960" y="1874520"/>
            <a:ext cx="548640" cy="548640"/>
          </a:xfrm>
          <a:prstGeom prst="ellipse">
            <a:avLst/>
          </a:prstGeom>
          <a:solidFill>
            <a:srgbClr val="1B4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5"/>
          <p:cNvSpPr txBox="1"/>
          <p:nvPr/>
        </p:nvSpPr>
        <p:spPr>
          <a:xfrm>
            <a:off x="822960" y="18745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D4AF37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 txBox="1"/>
          <p:nvPr/>
        </p:nvSpPr>
        <p:spPr>
          <a:xfrm>
            <a:off x="1554480" y="1856232"/>
            <a:ext cx="4069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81D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0281D"/>
                </a:solidFill>
                <a:latin typeface="Calibri"/>
                <a:ea typeface="Calibri"/>
                <a:cs typeface="Calibri"/>
                <a:sym typeface="Calibri"/>
              </a:rPr>
              <a:t>Statistical Modeling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 txBox="1"/>
          <p:nvPr/>
        </p:nvSpPr>
        <p:spPr>
          <a:xfrm>
            <a:off x="822960" y="2468880"/>
            <a:ext cx="4800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Ingests real athlete performance data to build a probability-based profile for each player, rather than relying on preseason hype.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6263640" y="1600200"/>
            <a:ext cx="5349240" cy="2148840"/>
          </a:xfrm>
          <a:prstGeom prst="roundRect">
            <a:avLst>
              <a:gd fmla="val 3404" name="adj"/>
            </a:avLst>
          </a:prstGeom>
          <a:solidFill>
            <a:srgbClr val="F2F2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6537960" y="1874520"/>
            <a:ext cx="548640" cy="548640"/>
          </a:xfrm>
          <a:prstGeom prst="ellipse">
            <a:avLst/>
          </a:prstGeom>
          <a:solidFill>
            <a:srgbClr val="1B4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5"/>
          <p:cNvSpPr txBox="1"/>
          <p:nvPr/>
        </p:nvSpPr>
        <p:spPr>
          <a:xfrm>
            <a:off x="6537960" y="18745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D4AF37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 txBox="1"/>
          <p:nvPr/>
        </p:nvSpPr>
        <p:spPr>
          <a:xfrm>
            <a:off x="7269480" y="1856232"/>
            <a:ext cx="4069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81D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0281D"/>
                </a:solidFill>
                <a:latin typeface="Calibri"/>
                <a:ea typeface="Calibri"/>
                <a:cs typeface="Calibri"/>
                <a:sym typeface="Calibri"/>
              </a:rPr>
              <a:t>Matchup Analysis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 txBox="1"/>
          <p:nvPr/>
        </p:nvSpPr>
        <p:spPr>
          <a:xfrm>
            <a:off x="6537960" y="2468880"/>
            <a:ext cx="4800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Weighs opponent strength, defensive rankings, and game context to adjust weekly projections.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548640" y="3977640"/>
            <a:ext cx="5349240" cy="2148840"/>
          </a:xfrm>
          <a:prstGeom prst="roundRect">
            <a:avLst>
              <a:gd fmla="val 3404" name="adj"/>
            </a:avLst>
          </a:prstGeom>
          <a:solidFill>
            <a:srgbClr val="F2F2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822960" y="4251960"/>
            <a:ext cx="548640" cy="548640"/>
          </a:xfrm>
          <a:prstGeom prst="ellipse">
            <a:avLst/>
          </a:prstGeom>
          <a:solidFill>
            <a:srgbClr val="1B4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"/>
          <p:cNvSpPr txBox="1"/>
          <p:nvPr/>
        </p:nvSpPr>
        <p:spPr>
          <a:xfrm>
            <a:off x="822960" y="425196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D4AF37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 txBox="1"/>
          <p:nvPr/>
        </p:nvSpPr>
        <p:spPr>
          <a:xfrm>
            <a:off x="1554480" y="4233672"/>
            <a:ext cx="4069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81D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0281D"/>
                </a:solidFill>
                <a:latin typeface="Calibri"/>
                <a:ea typeface="Calibri"/>
                <a:cs typeface="Calibri"/>
                <a:sym typeface="Calibri"/>
              </a:rPr>
              <a:t>AI Pattern Recognition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 txBox="1"/>
          <p:nvPr/>
        </p:nvSpPr>
        <p:spPr>
          <a:xfrm>
            <a:off x="822960" y="4846320"/>
            <a:ext cx="4800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Uses machine learning to find trends in historical data that correlate with strong future performance.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6263640" y="3977640"/>
            <a:ext cx="5349240" cy="2148840"/>
          </a:xfrm>
          <a:prstGeom prst="roundRect">
            <a:avLst>
              <a:gd fmla="val 3404" name="adj"/>
            </a:avLst>
          </a:prstGeom>
          <a:solidFill>
            <a:srgbClr val="F2F2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6537960" y="4251960"/>
            <a:ext cx="548640" cy="548640"/>
          </a:xfrm>
          <a:prstGeom prst="ellipse">
            <a:avLst/>
          </a:prstGeom>
          <a:solidFill>
            <a:srgbClr val="1B4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 txBox="1"/>
          <p:nvPr/>
        </p:nvSpPr>
        <p:spPr>
          <a:xfrm>
            <a:off x="6537960" y="425196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D4AF37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 txBox="1"/>
          <p:nvPr/>
        </p:nvSpPr>
        <p:spPr>
          <a:xfrm>
            <a:off x="7269480" y="4233672"/>
            <a:ext cx="4069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81D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0281D"/>
                </a:solidFill>
                <a:latin typeface="Calibri"/>
                <a:ea typeface="Calibri"/>
                <a:cs typeface="Calibri"/>
                <a:sym typeface="Calibri"/>
              </a:rPr>
              <a:t>Real-Time Recommendations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 txBox="1"/>
          <p:nvPr/>
        </p:nvSpPr>
        <p:spPr>
          <a:xfrm>
            <a:off x="6537960" y="4846320"/>
            <a:ext cx="4800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Updates predictions dynamically as new stats and news arrive, instead of relying on a fixed, static ranking.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rPr>
              <a:t>Tech Stack &amp; Goal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 txBox="1"/>
          <p:nvPr/>
        </p:nvSpPr>
        <p:spPr>
          <a:xfrm>
            <a:off x="548640" y="128016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BUILT WITH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548640" y="1737360"/>
            <a:ext cx="5394960" cy="868680"/>
          </a:xfrm>
          <a:prstGeom prst="roundRect">
            <a:avLst>
              <a:gd fmla="val 8421" name="adj"/>
            </a:avLst>
          </a:prstGeom>
          <a:solidFill>
            <a:srgbClr val="F2F2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6"/>
          <p:cNvSpPr/>
          <p:nvPr/>
        </p:nvSpPr>
        <p:spPr>
          <a:xfrm>
            <a:off x="548640" y="1737360"/>
            <a:ext cx="109728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6"/>
          <p:cNvSpPr txBox="1"/>
          <p:nvPr/>
        </p:nvSpPr>
        <p:spPr>
          <a:xfrm>
            <a:off x="868680" y="182880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81D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0281D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 txBox="1"/>
          <p:nvPr/>
        </p:nvSpPr>
        <p:spPr>
          <a:xfrm>
            <a:off x="868680" y="2176272"/>
            <a:ext cx="4892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Data processing, statistical modeling, and AI/ML logic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548640" y="2788920"/>
            <a:ext cx="5394960" cy="868680"/>
          </a:xfrm>
          <a:prstGeom prst="roundRect">
            <a:avLst>
              <a:gd fmla="val 8421" name="adj"/>
            </a:avLst>
          </a:prstGeom>
          <a:solidFill>
            <a:srgbClr val="F2F2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"/>
          <p:cNvSpPr/>
          <p:nvPr/>
        </p:nvSpPr>
        <p:spPr>
          <a:xfrm>
            <a:off x="548640" y="2788920"/>
            <a:ext cx="109728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"/>
          <p:cNvSpPr txBox="1"/>
          <p:nvPr/>
        </p:nvSpPr>
        <p:spPr>
          <a:xfrm>
            <a:off x="868680" y="288036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81D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10281D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1" i="0" lang="en-US" sz="1500" u="none" cap="none" strike="noStrike">
                <a:solidFill>
                  <a:srgbClr val="10281D"/>
                </a:solidFill>
                <a:latin typeface="Calibri"/>
                <a:ea typeface="Calibri"/>
                <a:cs typeface="Calibri"/>
                <a:sym typeface="Calibri"/>
              </a:rPr>
              <a:t>HTML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 txBox="1"/>
          <p:nvPr/>
        </p:nvSpPr>
        <p:spPr>
          <a:xfrm>
            <a:off x="868680" y="3227832"/>
            <a:ext cx="4892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Li</a:t>
            </a: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ghtweight frontend for viewing predictions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548640" y="3840480"/>
            <a:ext cx="5394960" cy="868680"/>
          </a:xfrm>
          <a:prstGeom prst="roundRect">
            <a:avLst>
              <a:gd fmla="val 8421" name="adj"/>
            </a:avLst>
          </a:prstGeom>
          <a:solidFill>
            <a:srgbClr val="F2F2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548640" y="3840480"/>
            <a:ext cx="109728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6"/>
          <p:cNvSpPr txBox="1"/>
          <p:nvPr/>
        </p:nvSpPr>
        <p:spPr>
          <a:xfrm>
            <a:off x="868680" y="393192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81D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0281D"/>
                </a:solidFill>
                <a:latin typeface="Calibri"/>
                <a:ea typeface="Calibri"/>
                <a:cs typeface="Calibri"/>
                <a:sym typeface="Calibri"/>
              </a:rPr>
              <a:t>VS Code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 txBox="1"/>
          <p:nvPr/>
        </p:nvSpPr>
        <p:spPr>
          <a:xfrm>
            <a:off x="868680" y="4279392"/>
            <a:ext cx="4892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Primary development environment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6400800" y="1280160"/>
            <a:ext cx="5120640" cy="4160520"/>
          </a:xfrm>
          <a:prstGeom prst="roundRect">
            <a:avLst>
              <a:gd fmla="val 2637" name="adj"/>
            </a:avLst>
          </a:prstGeom>
          <a:solidFill>
            <a:srgbClr val="1B4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6"/>
          <p:cNvSpPr txBox="1"/>
          <p:nvPr/>
        </p:nvSpPr>
        <p:spPr>
          <a:xfrm>
            <a:off x="6766560" y="1600200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4AF37"/>
                </a:solidFill>
                <a:latin typeface="Calibri"/>
                <a:ea typeface="Calibri"/>
                <a:cs typeface="Calibri"/>
                <a:sym typeface="Calibri"/>
              </a:rPr>
              <a:t>THE GOAL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 txBox="1"/>
          <p:nvPr/>
        </p:nvSpPr>
        <p:spPr>
          <a:xfrm>
            <a:off x="6766560" y="2057400"/>
            <a:ext cx="43891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Make correct predictions through pattern recognition in data.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6" name="Google Shape;96;p6"/>
          <p:cNvCxnSpPr/>
          <p:nvPr/>
        </p:nvCxnSpPr>
        <p:spPr>
          <a:xfrm>
            <a:off x="6766560" y="3611880"/>
            <a:ext cx="914400" cy="0"/>
          </a:xfrm>
          <a:prstGeom prst="straightConnector1">
            <a:avLst/>
          </a:prstGeom>
          <a:noFill/>
          <a:ln cap="flat" cmpd="sng" w="25400">
            <a:solidFill>
              <a:srgbClr val="D4AF37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" name="Google Shape;97;p6"/>
          <p:cNvSpPr txBox="1"/>
          <p:nvPr/>
        </p:nvSpPr>
        <p:spPr>
          <a:xfrm>
            <a:off x="6766560" y="3840480"/>
            <a:ext cx="43891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F2F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2F2F0"/>
                </a:solidFill>
                <a:latin typeface="Calibri"/>
                <a:ea typeface="Calibri"/>
                <a:cs typeface="Calibri"/>
                <a:sym typeface="Calibri"/>
              </a:rPr>
              <a:t>Success is measured by favoring probability-driven, evidence-based picks over luck or name recognition — and by getting sharper over time as more data flows in.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7"/>
          <p:cNvSpPr txBox="1"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rPr>
              <a:t>Implementation Plan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 txBox="1"/>
          <p:nvPr/>
        </p:nvSpPr>
        <p:spPr>
          <a:xfrm>
            <a:off x="548640" y="9601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From raw stats to on-the-clock recommendations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548640" y="1783080"/>
            <a:ext cx="2697480" cy="3566160"/>
          </a:xfrm>
          <a:prstGeom prst="roundRect">
            <a:avLst>
              <a:gd fmla="val 2712" name="adj"/>
            </a:avLst>
          </a:prstGeom>
          <a:solidFill>
            <a:srgbClr val="1B4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7"/>
          <p:cNvSpPr txBox="1"/>
          <p:nvPr/>
        </p:nvSpPr>
        <p:spPr>
          <a:xfrm>
            <a:off x="777240" y="2011680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D4AF37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 txBox="1"/>
          <p:nvPr/>
        </p:nvSpPr>
        <p:spPr>
          <a:xfrm>
            <a:off x="777240" y="2743200"/>
            <a:ext cx="2240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Collect Data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 txBox="1"/>
          <p:nvPr/>
        </p:nvSpPr>
        <p:spPr>
          <a:xfrm>
            <a:off x="777240" y="3383280"/>
            <a:ext cx="224028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F2F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2F2F0"/>
                </a:solidFill>
                <a:latin typeface="Calibri"/>
                <a:ea typeface="Calibri"/>
                <a:cs typeface="Calibri"/>
                <a:sym typeface="Calibri"/>
              </a:rPr>
              <a:t>Gather historical &amp; real-time athlete stats, matchup data, and injury/news feeds.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3264408" y="3438144"/>
            <a:ext cx="219456" cy="256032"/>
          </a:xfrm>
          <a:prstGeom prst="chevron">
            <a:avLst>
              <a:gd fmla="val 50000" name="adj"/>
            </a:avLst>
          </a:prstGeom>
          <a:solidFill>
            <a:srgbClr val="1B4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7"/>
          <p:cNvSpPr/>
          <p:nvPr/>
        </p:nvSpPr>
        <p:spPr>
          <a:xfrm>
            <a:off x="3502152" y="1783080"/>
            <a:ext cx="2697480" cy="3566160"/>
          </a:xfrm>
          <a:prstGeom prst="roundRect">
            <a:avLst>
              <a:gd fmla="val 2712" name="adj"/>
            </a:avLst>
          </a:prstGeom>
          <a:solidFill>
            <a:srgbClr val="F2F2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7"/>
          <p:cNvSpPr txBox="1"/>
          <p:nvPr/>
        </p:nvSpPr>
        <p:spPr>
          <a:xfrm>
            <a:off x="3730752" y="2011680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 txBox="1"/>
          <p:nvPr/>
        </p:nvSpPr>
        <p:spPr>
          <a:xfrm>
            <a:off x="3730752" y="2743200"/>
            <a:ext cx="2240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81D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0281D"/>
                </a:solidFill>
                <a:latin typeface="Calibri"/>
                <a:ea typeface="Calibri"/>
                <a:cs typeface="Calibri"/>
                <a:sym typeface="Calibri"/>
              </a:rPr>
              <a:t>Build the Model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 txBox="1"/>
          <p:nvPr/>
        </p:nvSpPr>
        <p:spPr>
          <a:xfrm>
            <a:off x="3730752" y="3383280"/>
            <a:ext cx="224028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Develop the Python-based prediction engine using statistical &amp; ML methods.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6217920" y="3438144"/>
            <a:ext cx="219456" cy="256032"/>
          </a:xfrm>
          <a:prstGeom prst="chevron">
            <a:avLst>
              <a:gd fmla="val 50000" name="adj"/>
            </a:avLst>
          </a:prstGeom>
          <a:solidFill>
            <a:srgbClr val="1B4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7"/>
          <p:cNvSpPr/>
          <p:nvPr/>
        </p:nvSpPr>
        <p:spPr>
          <a:xfrm>
            <a:off x="6455664" y="1783080"/>
            <a:ext cx="2697480" cy="3566160"/>
          </a:xfrm>
          <a:prstGeom prst="roundRect">
            <a:avLst>
              <a:gd fmla="val 2712" name="adj"/>
            </a:avLst>
          </a:prstGeom>
          <a:solidFill>
            <a:srgbClr val="1B4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7"/>
          <p:cNvSpPr txBox="1"/>
          <p:nvPr/>
        </p:nvSpPr>
        <p:spPr>
          <a:xfrm>
            <a:off x="6684264" y="2011680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F37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D4AF37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 txBox="1"/>
          <p:nvPr/>
        </p:nvSpPr>
        <p:spPr>
          <a:xfrm>
            <a:off x="6684264" y="2743200"/>
            <a:ext cx="2240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 &amp; Validate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 txBox="1"/>
          <p:nvPr/>
        </p:nvSpPr>
        <p:spPr>
          <a:xfrm>
            <a:off x="6684264" y="3383280"/>
            <a:ext cx="224028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2F2F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2F2F0"/>
                </a:solidFill>
                <a:latin typeface="Calibri"/>
                <a:ea typeface="Calibri"/>
                <a:cs typeface="Calibri"/>
                <a:sym typeface="Calibri"/>
              </a:rPr>
              <a:t>Backtest predictions against past seasons to check accuracy and refine logic.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9171432" y="3438144"/>
            <a:ext cx="219456" cy="256032"/>
          </a:xfrm>
          <a:prstGeom prst="chevron">
            <a:avLst>
              <a:gd fmla="val 50000" name="adj"/>
            </a:avLst>
          </a:prstGeom>
          <a:solidFill>
            <a:srgbClr val="1B43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"/>
          <p:cNvSpPr/>
          <p:nvPr/>
        </p:nvSpPr>
        <p:spPr>
          <a:xfrm>
            <a:off x="9409176" y="1783080"/>
            <a:ext cx="2697480" cy="3566160"/>
          </a:xfrm>
          <a:prstGeom prst="roundRect">
            <a:avLst>
              <a:gd fmla="val 2712" name="adj"/>
            </a:avLst>
          </a:prstGeom>
          <a:solidFill>
            <a:srgbClr val="F2F2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7"/>
          <p:cNvSpPr txBox="1"/>
          <p:nvPr/>
        </p:nvSpPr>
        <p:spPr>
          <a:xfrm>
            <a:off x="9637776" y="2011680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4332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B4332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 txBox="1"/>
          <p:nvPr/>
        </p:nvSpPr>
        <p:spPr>
          <a:xfrm>
            <a:off x="9637776" y="2743200"/>
            <a:ext cx="2240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81D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0281D"/>
                </a:solidFill>
                <a:latin typeface="Calibri"/>
                <a:ea typeface="Calibri"/>
                <a:cs typeface="Calibri"/>
                <a:sym typeface="Calibri"/>
              </a:rPr>
              <a:t>Frontend &amp; Deploy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 txBox="1"/>
          <p:nvPr/>
        </p:nvSpPr>
        <p:spPr>
          <a:xfrm>
            <a:off x="9637776" y="3383280"/>
            <a:ext cx="224028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Wrap the model in a simple HTML interface for live, real-time draft use.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